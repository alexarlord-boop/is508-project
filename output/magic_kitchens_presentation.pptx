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solidFill>
            <a:srgbClr val="17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Magic Kitchens Meat Loaf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DD7EE"/>
                </a:solidFill>
              </a:rPr>
              <a:t>Sales Forecast &amp; Marketing Budget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46120"/>
            <a:ext cx="48737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Presented by Sally Bunn · Brand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Group Members: Matvey Firsov  ·  Gennady Petrishchev  ·  Aleksandr Petrunin  ·  Manuel Wills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A9C8"/>
                </a:solidFill>
              </a:rPr>
              <a:t>IS508 · Big Data and Analytics ·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72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The Business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Why Sally needs a model — and why past data is confusing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50591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688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Data &amp; 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249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24 quarters, 4 variables, hidden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46704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64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210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4 regression models built, 1 selected by Adjusted 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42816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79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6110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1713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What actually drives sales — and what doesn't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38928"/>
            <a:ext cx="502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1755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572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4132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Where to spend $1K, what to forecast, what to 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01 ·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The Business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What Sally inherited on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• Meat loaf mix sales swing from $227K to $703K per quarter — a nearly 3× gap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Company policy: EITHER promote OR advertise each quarter (never both)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Long-standing internal debate: does promotion actually work, or just steal future sales?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Advertising effect unclear — two similar ad spends ($36K vs $39K) produced $648K and $343K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Economist claims product is counter-cyclical — sells better in recessions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Possible seasonal effect — cold months may drive more purchases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566160" cy="91440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</a:rPr>
              <a:t>$227K–$703K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659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Sales range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697480"/>
            <a:ext cx="3566160" cy="91440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</a:rP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Variance explained
by our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977639"/>
            <a:ext cx="3566160" cy="91440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5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</a:rPr>
              <a:t>24 qtrs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8055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Historical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02 · DATA &amp;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The Data — 24 Quarters of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41732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640080"/>
                <a:gridCol w="594360"/>
                <a:gridCol w="5943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</a:rPr>
                        <a:t>Quarterly sales ($K)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456K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228K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704K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</a:rPr>
                        <a:t>prom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</a:rPr>
                        <a:t>Promotion spend — to brokers ($K)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15.9K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50.1K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</a:rPr>
                        <a:t>adv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</a:rPr>
                        <a:t>Advertising spend — to consumers ($K)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26.6K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57K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</a:rPr>
                        <a:t>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</a:rPr>
                        <a:t>Economic conditions 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105.5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04040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sale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611880"/>
            <a:ext cx="9692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02 · DATA &amp;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Key Insight: Promotion Creates a Hangover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What the raw data tells us before we even run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1521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• Promotion boosts sales THIS quarter — but suppresses NEXT quarter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When prior-quarter promo &gt; $20K → next quarter median sales DROP ~$80K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Brokers stockpile inventory during deals, then don't reorder until stock clears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→ This is why we must test lagged (delayed) effects in the model</a:t>
            </a:r>
          </a:p>
        </p:txBody>
      </p:sp>
      <p:pic>
        <p:nvPicPr>
          <p:cNvPr id="8" name="Picture 7" descr="stockp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429000"/>
            <a:ext cx="115214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03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Model Building — Progressive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We built 4 OLS regression models, selecting by Adjusted R²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43000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27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4E79"/>
                </a:solidFill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prom + adv +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27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Adj R² = 0.547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3852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✗ Missing lag effects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42032"/>
            <a:ext cx="1143000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4E79"/>
                </a:solidFill>
              </a:rPr>
              <a:t>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+ prom_lag₁ + adv_lag₁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Adj R² = 0.800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01752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✗ Missing seasons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21024"/>
            <a:ext cx="1143000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85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685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4E79"/>
                </a:solidFill>
              </a:rPr>
              <a:t>Seasonal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6850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+ Q1/Q2/Q3 dummies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85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Adj R² = 0.536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096512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✗ Missing lags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700016"/>
            <a:ext cx="11430000" cy="93268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7640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64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Full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640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All of the above  ← BEST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64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Adj R² = 0.849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175504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✓ All effects tested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★ Winner: M4 Full — Adj R² = 0.850  (explains 85% of sales variance)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03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Best Model Performance — M4 Full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Adj R² = 0.849 · n = 23 quarters · AIC = 254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577840" cy="3291840"/>
          </a:xfrm>
          <a:prstGeom prst="rect">
            <a:avLst/>
          </a:prstGeom>
        </p:spPr>
      </p:pic>
      <p:pic>
        <p:nvPicPr>
          <p:cNvPr id="8" name="Picture 7" descr="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92040"/>
            <a:ext cx="11521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• RMSE: $40.7K  (avg forecast error)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• Residuals are well-behaved — no systematic pattern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• No multicollinearity detected (max |r| = 0.46 between predictors)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04 ·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Q1: Where Should Sally Spend $1,000?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Answer: Advertising yields a higher net sales 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1_spend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7132320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0" y="1417320"/>
            <a:ext cx="41148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Promotion — Net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373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+6.51K  −3.41K  =  +3.10K 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651760"/>
            <a:ext cx="4114800" cy="105156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6974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Advertising — Net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9718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+2.64K  +2.78K  =  +5.41K 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3192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Promotion boosts sales NOW (+$6.51K) but creates a hangover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Lagged promo is negative (−$3.41K): brokers stockpile, then go quiet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Advertising compounds: +$2.64K now AND +$2.78K next quarter</a:t>
            </a:r>
          </a:p>
          <a:p>
            <a:pPr algn="l"/>
            <a:r>
              <a:rPr sz="1200" b="1">
                <a:solidFill>
                  <a:srgbClr val="404040"/>
                </a:solidFill>
              </a:rPr>
              <a:t>• ★ Sally should ADVERTISE — net return is $5.41K vs $3.10K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04 ·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Q2: Is Meat Loaf Counter-Cyclical?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The economist's theory is plausible — but just misses statistical confirmation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dex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21792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0" y="1508760"/>
            <a:ext cx="4937760" cy="594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636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Coefficient (index)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5636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F4E79"/>
                </a:solidFill>
              </a:rPr>
              <a:t>-4.922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240280"/>
            <a:ext cx="4937760" cy="594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2951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t-statistic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2951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F4E79"/>
                </a:solidFill>
              </a:rPr>
              <a:t>-2.11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971800"/>
            <a:ext cx="4937760" cy="594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0266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p-value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0266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F4E79"/>
                </a:solidFill>
              </a:rPr>
              <a:t>0.0530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703320"/>
            <a:ext cx="4937760" cy="594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75818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95%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5818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F4E79"/>
                </a:solidFill>
              </a:rPr>
              <a:t>[-9.92, 0.07]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663440"/>
            <a:ext cx="4937760" cy="1005840"/>
          </a:xfrm>
          <a:prstGeom prst="rect">
            <a:avLst/>
          </a:prstGeom>
          <a:solidFill>
            <a:srgbClr val="FFFBD5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6634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• Coefficient is NEGATIVE (−4.92): ✓ correct direction</a:t>
            </a:r>
          </a:p>
          <a:p>
            <a:pPr algn="l"/>
            <a:r>
              <a:rPr sz="1100" b="0">
                <a:solidFill>
                  <a:srgbClr val="404040"/>
                </a:solidFill>
              </a:rPr>
              <a:t>• p = 0.053 — misses 5% threshold by a whisker</a:t>
            </a:r>
          </a:p>
          <a:p>
            <a:pPr algn="l"/>
            <a:r>
              <a:rPr sz="1100" b="0">
                <a:solidFill>
                  <a:srgbClr val="404040"/>
                </a:solidFill>
              </a:rPr>
              <a:t>• Verdict: Suggestive, not conclusive</a:t>
            </a:r>
          </a:p>
          <a:p>
            <a:pPr algn="l"/>
            <a:r>
              <a:rPr sz="1100" b="0">
                <a:solidFill>
                  <a:srgbClr val="404040"/>
                </a:solidFill>
              </a:rPr>
              <a:t>• Watch economic conditions; cold winters may help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04 ·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Q3: Are There Seasonal Effects?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No season significantly outperforms another — after controlling for spend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a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40080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41732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Q1 (Winter): +20K vs Q4 — not significant (p=0.54)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Q2 (Spring): −61K vs Q4 — marginal (p=0.09)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Q3 (Summer): −53K vs Q4 — not significant (p=0.14)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After controlling for spend &amp; economy,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seasons cannot be confirmed statistically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(24 quarters may be too few to isolate)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→ Do NOT plan seasonal budget shifts yet</a:t>
            </a:r>
          </a:p>
          <a:p>
            <a:pPr algn="l"/>
            <a:r>
              <a:rPr sz="1300" b="0">
                <a:solidFill>
                  <a:srgbClr val="404040"/>
                </a:solidFill>
              </a:rPr>
              <a:t>• → Re-evaluate with more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04 ·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4-Quarter Sales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Based on M4 Full model — historical mean spend as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7772400" cy="3200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0" y="1417320"/>
          <a:ext cx="3566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Forecast ($K)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Q1 (Year 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$552.5K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Q2 (Year 7)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$421.0K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Q3 (Year 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$429.6K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Q4 (Year 7)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$482.3K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</a:rPr>
                        <a:t>Annual Total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E79"/>
                          </a:solidFill>
                        </a:rPr>
                        <a:t>$1885.5K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754880"/>
            <a:ext cx="11521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• Annual forecast: $1885K  (mean-spend baseline)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• To maximise: shift spend toward advertising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• Monitor economic index — weak economy may boost sales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05 ·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Sally's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</a:rPr>
              <a:t>Three evidence-based decisions for the coming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11430000" cy="137160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Shift budget toward Advertising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996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Advertising net effect: +$5.41K per $1K — nearly 2× promotion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0428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Eliminate or reduce promotion-heavy quarters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786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Use promotion sparingly (max 1–2 quarters) to avoid stockpiling hangover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63239"/>
            <a:ext cx="114300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2918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54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Monitor economic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3872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Index coefficient is negative: bad times → more meat loaf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1304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Keep a recession-ready plan; this product may be a safe harbour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8736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Re-test counter-cyclicality as more data accumulates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72000"/>
            <a:ext cx="114300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800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Do not yet plan by season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4748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Seasonal patterns are unconfirmed at 5% significance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2180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Collect 2 more years of data before allocating seasonal budgets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9612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→ Track Q2 (spring) — shows the largest (if marginal) negative effect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OLS Regression Output — Best Model: M4 Full (Adj R² = 0.850)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" y="566928"/>
            <a:ext cx="1652451" cy="47548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79" y="585216"/>
            <a:ext cx="16341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Dependent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9" y="749808"/>
            <a:ext cx="1634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</a:rPr>
              <a:t>Sales ($K)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2763" y="566928"/>
            <a:ext cx="1652451" cy="47548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1051" y="585216"/>
            <a:ext cx="16341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1051" y="749808"/>
            <a:ext cx="1634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0934" y="566928"/>
            <a:ext cx="1652451" cy="47548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9222" y="585216"/>
            <a:ext cx="16341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R-squared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9222" y="749808"/>
            <a:ext cx="1634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</a:rPr>
              <a:t>0.9042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9106" y="566928"/>
            <a:ext cx="1652451" cy="47548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7394" y="585216"/>
            <a:ext cx="16341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Adjusted R-squared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7394" y="749808"/>
            <a:ext cx="1634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</a:rPr>
              <a:t>0.8495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7277" y="566928"/>
            <a:ext cx="1652451" cy="47548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5565" y="585216"/>
            <a:ext cx="16341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F-stat p-value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5565" y="749808"/>
            <a:ext cx="1634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</a:rPr>
              <a:t>0.0000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55449" y="566928"/>
            <a:ext cx="1652451" cy="47548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73737" y="585216"/>
            <a:ext cx="16341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AIC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3737" y="749808"/>
            <a:ext cx="1634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</a:rPr>
              <a:t>253.72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53620" y="566928"/>
            <a:ext cx="1652451" cy="475488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1908" y="585216"/>
            <a:ext cx="16341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RMSE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1908" y="749808"/>
            <a:ext cx="163416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</a:rPr>
              <a:t>$40.7K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64592" y="1097280"/>
          <a:ext cx="88239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34440"/>
                <a:gridCol w="1005840"/>
                <a:gridCol w="914400"/>
                <a:gridCol w="868680"/>
                <a:gridCol w="1097280"/>
                <a:gridCol w="1143000"/>
                <a:gridCol w="1097280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Coefficient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Std Error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t-Stat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[95% CI Low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 High]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Significant?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</a:rPr>
                        <a:t>const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808.2760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242.3750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3.335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0.0049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288.4335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1328.1186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</a:rPr>
                        <a:t>prom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6.5088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0.8062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8.074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0.0000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4.7798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8.2379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</a:rPr>
                        <a:t>adv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2.6374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0.7269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3.628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0.0027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1.0784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4.1965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</a:rPr>
                        <a:t>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-4.9225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2.3292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-2.113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0.0530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-9.9180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0.0731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</a:rPr>
                        <a:t>prom_lag1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-3.4099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0.7851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-4.343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0.0007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-5.0938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-1.7260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</a:rPr>
                        <a:t>adv_lag1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2.7752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0.7493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3.704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0.0024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1.1682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4.3823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75E23"/>
                          </a:solidFill>
                        </a:rPr>
                        <a:t>✓ Yes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20.3601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32.8144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0.620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0.5449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-50.0198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90.7400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-61.2449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33.7064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-1.817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0.0907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-133.5380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11.0482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-52.6502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33.1690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-1.587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0.1348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-123.7906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18.4902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64592" y="651052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Note: Green = statistically significant (p &lt; 0.05). Lagged variables use n=23 (one observation lost to lag).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